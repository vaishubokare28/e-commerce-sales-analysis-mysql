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rchivo Black" charset="1" panose="020B0A03020202020B04"/>
      <p:regular r:id="rId19"/>
    </p:embeddedFont>
    <p:embeddedFont>
      <p:font typeface="Garet Italics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19.png" Type="http://schemas.openxmlformats.org/officeDocument/2006/relationships/image"/><Relationship Id="rId13" Target="../media/image20.pn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png" Type="http://schemas.openxmlformats.org/officeDocument/2006/relationships/image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33.png" Type="http://schemas.openxmlformats.org/officeDocument/2006/relationships/image"/><Relationship Id="rId15" Target="../media/image34.png" Type="http://schemas.openxmlformats.org/officeDocument/2006/relationships/image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35.pn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37.pn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39.pn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43.png" Type="http://schemas.openxmlformats.org/officeDocument/2006/relationships/image"/><Relationship Id="rId7" Target="../media/image4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Relationship Id="rId8" Target="../media/image47.pn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49.png" Type="http://schemas.openxmlformats.org/officeDocument/2006/relationships/image"/><Relationship Id="rId13" Target="../media/image50.pn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51.png" Type="http://schemas.openxmlformats.org/officeDocument/2006/relationships/image"/><Relationship Id="rId7" Target="../media/image5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53.png" Type="http://schemas.openxmlformats.org/officeDocument/2006/relationships/image"/><Relationship Id="rId13" Target="../media/image54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6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43854" y="3436538"/>
            <a:ext cx="7906424" cy="790642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617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934097" y="2015845"/>
            <a:ext cx="5208967" cy="6255310"/>
          </a:xfrm>
          <a:custGeom>
            <a:avLst/>
            <a:gdLst/>
            <a:ahLst/>
            <a:cxnLst/>
            <a:rect r="r" b="b" t="t" l="l"/>
            <a:pathLst>
              <a:path h="6255310" w="5208967">
                <a:moveTo>
                  <a:pt x="0" y="0"/>
                </a:moveTo>
                <a:lnTo>
                  <a:pt x="5208967" y="0"/>
                </a:lnTo>
                <a:lnTo>
                  <a:pt x="5208967" y="6255310"/>
                </a:lnTo>
                <a:lnTo>
                  <a:pt x="0" y="6255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3362279" y="-772911"/>
            <a:ext cx="7906424" cy="790642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617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44936" y="2266224"/>
            <a:ext cx="11337551" cy="5269421"/>
            <a:chOff x="0" y="0"/>
            <a:chExt cx="2622560" cy="12189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176" y="0"/>
              <a:ext cx="2614207" cy="1218903"/>
            </a:xfrm>
            <a:custGeom>
              <a:avLst/>
              <a:gdLst/>
              <a:ahLst/>
              <a:cxnLst/>
              <a:rect r="r" b="b" t="t" l="l"/>
              <a:pathLst>
                <a:path h="1218903" w="2614207">
                  <a:moveTo>
                    <a:pt x="226338" y="1218903"/>
                  </a:moveTo>
                  <a:lnTo>
                    <a:pt x="2387869" y="1218903"/>
                  </a:lnTo>
                  <a:cubicBezTo>
                    <a:pt x="2403631" y="1218903"/>
                    <a:pt x="2417083" y="1207508"/>
                    <a:pt x="2419675" y="1191960"/>
                  </a:cubicBezTo>
                  <a:lnTo>
                    <a:pt x="2613892" y="26942"/>
                  </a:lnTo>
                  <a:cubicBezTo>
                    <a:pt x="2615011" y="20233"/>
                    <a:pt x="2613120" y="13372"/>
                    <a:pt x="2608724" y="8182"/>
                  </a:cubicBezTo>
                  <a:cubicBezTo>
                    <a:pt x="2604328" y="2993"/>
                    <a:pt x="2597871" y="0"/>
                    <a:pt x="2591069" y="0"/>
                  </a:cubicBezTo>
                  <a:lnTo>
                    <a:pt x="23138" y="0"/>
                  </a:lnTo>
                  <a:cubicBezTo>
                    <a:pt x="16337" y="0"/>
                    <a:pt x="9880" y="2993"/>
                    <a:pt x="5483" y="8182"/>
                  </a:cubicBezTo>
                  <a:cubicBezTo>
                    <a:pt x="1087" y="13372"/>
                    <a:pt x="-803" y="20233"/>
                    <a:pt x="316" y="26942"/>
                  </a:cubicBezTo>
                  <a:lnTo>
                    <a:pt x="194532" y="1191960"/>
                  </a:lnTo>
                  <a:cubicBezTo>
                    <a:pt x="197124" y="1207508"/>
                    <a:pt x="210576" y="1218903"/>
                    <a:pt x="226338" y="1218903"/>
                  </a:cubicBezTo>
                  <a:close/>
                </a:path>
              </a:pathLst>
            </a:custGeom>
            <a:solidFill>
              <a:srgbClr val="E1EBE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27000" y="-38100"/>
              <a:ext cx="2368560" cy="1257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5346138" y="7310562"/>
            <a:ext cx="2935145" cy="960593"/>
          </a:xfrm>
          <a:custGeom>
            <a:avLst/>
            <a:gdLst/>
            <a:ahLst/>
            <a:cxnLst/>
            <a:rect r="r" b="b" t="t" l="l"/>
            <a:pathLst>
              <a:path h="960593" w="2935145">
                <a:moveTo>
                  <a:pt x="0" y="0"/>
                </a:moveTo>
                <a:lnTo>
                  <a:pt x="2935146" y="0"/>
                </a:lnTo>
                <a:lnTo>
                  <a:pt x="2935146" y="960593"/>
                </a:lnTo>
                <a:lnTo>
                  <a:pt x="0" y="9605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1934097" y="1159799"/>
            <a:ext cx="766015" cy="766015"/>
          </a:xfrm>
          <a:custGeom>
            <a:avLst/>
            <a:gdLst/>
            <a:ahLst/>
            <a:cxnLst/>
            <a:rect r="r" b="b" t="t" l="l"/>
            <a:pathLst>
              <a:path h="766015" w="766015">
                <a:moveTo>
                  <a:pt x="0" y="0"/>
                </a:moveTo>
                <a:lnTo>
                  <a:pt x="766015" y="0"/>
                </a:lnTo>
                <a:lnTo>
                  <a:pt x="766015" y="766016"/>
                </a:lnTo>
                <a:lnTo>
                  <a:pt x="0" y="7660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87202" y="1321078"/>
            <a:ext cx="1682450" cy="1658111"/>
          </a:xfrm>
          <a:custGeom>
            <a:avLst/>
            <a:gdLst/>
            <a:ahLst/>
            <a:cxnLst/>
            <a:rect r="r" b="b" t="t" l="l"/>
            <a:pathLst>
              <a:path h="1658111" w="1682450">
                <a:moveTo>
                  <a:pt x="0" y="0"/>
                </a:moveTo>
                <a:lnTo>
                  <a:pt x="1682450" y="0"/>
                </a:lnTo>
                <a:lnTo>
                  <a:pt x="1682450" y="1658111"/>
                </a:lnTo>
                <a:lnTo>
                  <a:pt x="0" y="16581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-192286" y="8271155"/>
            <a:ext cx="18672571" cy="2851811"/>
          </a:xfrm>
          <a:custGeom>
            <a:avLst/>
            <a:gdLst/>
            <a:ahLst/>
            <a:cxnLst/>
            <a:rect r="r" b="b" t="t" l="l"/>
            <a:pathLst>
              <a:path h="2851811" w="18672571">
                <a:moveTo>
                  <a:pt x="0" y="0"/>
                </a:moveTo>
                <a:lnTo>
                  <a:pt x="18672572" y="0"/>
                </a:lnTo>
                <a:lnTo>
                  <a:pt x="18672572" y="2851811"/>
                </a:lnTo>
                <a:lnTo>
                  <a:pt x="0" y="285181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043073" y="2970308"/>
            <a:ext cx="9541277" cy="3270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8400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E-COMMERCE SALES</a:t>
            </a:r>
          </a:p>
          <a:p>
            <a:pPr algn="ctr">
              <a:lnSpc>
                <a:spcPts val="8400"/>
              </a:lnSpc>
            </a:pPr>
            <a:r>
              <a:rPr lang="en-US" sz="8400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ANALYSIS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751337" y="6318048"/>
            <a:ext cx="8124748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i="true">
                <a:solidFill>
                  <a:srgbClr val="26262F"/>
                </a:solidFill>
                <a:latin typeface="Garet Italics"/>
                <a:ea typeface="Garet Italics"/>
                <a:cs typeface="Garet Italics"/>
                <a:sym typeface="Garet Italics"/>
              </a:rPr>
              <a:t>MYSQL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6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56088" y="-5639429"/>
            <a:ext cx="8991126" cy="899112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617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436807" cy="8229600"/>
            <a:chOff x="0" y="0"/>
            <a:chExt cx="599524" cy="3671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9524" cy="367188"/>
            </a:xfrm>
            <a:custGeom>
              <a:avLst/>
              <a:gdLst/>
              <a:ahLst/>
              <a:cxnLst/>
              <a:rect r="r" b="b" t="t" l="l"/>
              <a:pathLst>
                <a:path h="367188" w="599524">
                  <a:moveTo>
                    <a:pt x="57617" y="0"/>
                  </a:moveTo>
                  <a:lnTo>
                    <a:pt x="541906" y="0"/>
                  </a:lnTo>
                  <a:cubicBezTo>
                    <a:pt x="573728" y="0"/>
                    <a:pt x="599524" y="25796"/>
                    <a:pt x="599524" y="57617"/>
                  </a:cubicBezTo>
                  <a:lnTo>
                    <a:pt x="599524" y="309571"/>
                  </a:lnTo>
                  <a:cubicBezTo>
                    <a:pt x="599524" y="341392"/>
                    <a:pt x="573728" y="367188"/>
                    <a:pt x="541906" y="367188"/>
                  </a:cubicBezTo>
                  <a:lnTo>
                    <a:pt x="57617" y="367188"/>
                  </a:lnTo>
                  <a:cubicBezTo>
                    <a:pt x="25796" y="367188"/>
                    <a:pt x="0" y="341392"/>
                    <a:pt x="0" y="309571"/>
                  </a:cubicBezTo>
                  <a:lnTo>
                    <a:pt x="0" y="57617"/>
                  </a:lnTo>
                  <a:cubicBezTo>
                    <a:pt x="0" y="25796"/>
                    <a:pt x="25796" y="0"/>
                    <a:pt x="57617" y="0"/>
                  </a:cubicBezTo>
                  <a:close/>
                </a:path>
              </a:pathLst>
            </a:custGeom>
            <a:solidFill>
              <a:srgbClr val="E1EBED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99524" cy="4052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35803" y="3749138"/>
            <a:ext cx="12230394" cy="1223039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F5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923120" y="1757325"/>
            <a:ext cx="6336180" cy="6513830"/>
          </a:xfrm>
          <a:custGeom>
            <a:avLst/>
            <a:gdLst/>
            <a:ahLst/>
            <a:cxnLst/>
            <a:rect r="r" b="b" t="t" l="l"/>
            <a:pathLst>
              <a:path h="6513830" w="6336180">
                <a:moveTo>
                  <a:pt x="0" y="0"/>
                </a:moveTo>
                <a:lnTo>
                  <a:pt x="6336180" y="0"/>
                </a:lnTo>
                <a:lnTo>
                  <a:pt x="6336180" y="6513830"/>
                </a:lnTo>
                <a:lnTo>
                  <a:pt x="0" y="65138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-192286" y="8271155"/>
            <a:ext cx="18672571" cy="2851811"/>
          </a:xfrm>
          <a:custGeom>
            <a:avLst/>
            <a:gdLst/>
            <a:ahLst/>
            <a:cxnLst/>
            <a:rect r="r" b="b" t="t" l="l"/>
            <a:pathLst>
              <a:path h="2851811" w="18672571">
                <a:moveTo>
                  <a:pt x="0" y="0"/>
                </a:moveTo>
                <a:lnTo>
                  <a:pt x="18672572" y="0"/>
                </a:lnTo>
                <a:lnTo>
                  <a:pt x="18672572" y="2851811"/>
                </a:lnTo>
                <a:lnTo>
                  <a:pt x="0" y="28518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029951" y="1757325"/>
            <a:ext cx="1105104" cy="1089117"/>
          </a:xfrm>
          <a:custGeom>
            <a:avLst/>
            <a:gdLst/>
            <a:ahLst/>
            <a:cxnLst/>
            <a:rect r="r" b="b" t="t" l="l"/>
            <a:pathLst>
              <a:path h="1089117" w="1105104">
                <a:moveTo>
                  <a:pt x="0" y="0"/>
                </a:moveTo>
                <a:lnTo>
                  <a:pt x="1105104" y="0"/>
                </a:lnTo>
                <a:lnTo>
                  <a:pt x="1105104" y="1089118"/>
                </a:lnTo>
                <a:lnTo>
                  <a:pt x="0" y="10891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7796465">
            <a:off x="15510000" y="548403"/>
            <a:ext cx="2935145" cy="960593"/>
          </a:xfrm>
          <a:custGeom>
            <a:avLst/>
            <a:gdLst/>
            <a:ahLst/>
            <a:cxnLst/>
            <a:rect r="r" b="b" t="t" l="l"/>
            <a:pathLst>
              <a:path h="960593" w="2935145">
                <a:moveTo>
                  <a:pt x="0" y="0"/>
                </a:moveTo>
                <a:lnTo>
                  <a:pt x="2935146" y="0"/>
                </a:lnTo>
                <a:lnTo>
                  <a:pt x="2935146" y="960594"/>
                </a:lnTo>
                <a:lnTo>
                  <a:pt x="0" y="9605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5" id="15"/>
          <p:cNvSpPr txBox="true"/>
          <p:nvPr/>
        </p:nvSpPr>
        <p:spPr>
          <a:xfrm rot="0">
            <a:off x="1595793" y="1650948"/>
            <a:ext cx="7193605" cy="2005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700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TOTAL REVENUE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1263935" y="3220186"/>
            <a:ext cx="766015" cy="766015"/>
          </a:xfrm>
          <a:custGeom>
            <a:avLst/>
            <a:gdLst/>
            <a:ahLst/>
            <a:cxnLst/>
            <a:rect r="r" b="b" t="t" l="l"/>
            <a:pathLst>
              <a:path h="766015" w="766015">
                <a:moveTo>
                  <a:pt x="0" y="0"/>
                </a:moveTo>
                <a:lnTo>
                  <a:pt x="766016" y="0"/>
                </a:lnTo>
                <a:lnTo>
                  <a:pt x="766016" y="766016"/>
                </a:lnTo>
                <a:lnTo>
                  <a:pt x="0" y="7660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95793" y="3749138"/>
            <a:ext cx="9128650" cy="1291370"/>
          </a:xfrm>
          <a:custGeom>
            <a:avLst/>
            <a:gdLst/>
            <a:ahLst/>
            <a:cxnLst/>
            <a:rect r="r" b="b" t="t" l="l"/>
            <a:pathLst>
              <a:path h="1291370" w="9128650">
                <a:moveTo>
                  <a:pt x="0" y="0"/>
                </a:moveTo>
                <a:lnTo>
                  <a:pt x="9128650" y="0"/>
                </a:lnTo>
                <a:lnTo>
                  <a:pt x="9128650" y="1291370"/>
                </a:lnTo>
                <a:lnTo>
                  <a:pt x="0" y="129137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737629" y="5712455"/>
            <a:ext cx="3007469" cy="1423177"/>
          </a:xfrm>
          <a:custGeom>
            <a:avLst/>
            <a:gdLst/>
            <a:ahLst/>
            <a:cxnLst/>
            <a:rect r="r" b="b" t="t" l="l"/>
            <a:pathLst>
              <a:path h="1423177" w="3007469">
                <a:moveTo>
                  <a:pt x="0" y="0"/>
                </a:moveTo>
                <a:lnTo>
                  <a:pt x="3007469" y="0"/>
                </a:lnTo>
                <a:lnTo>
                  <a:pt x="3007469" y="1423177"/>
                </a:lnTo>
                <a:lnTo>
                  <a:pt x="0" y="142317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6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374505" y="-3282961"/>
            <a:ext cx="8991126" cy="899112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617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671379" y="-3282961"/>
            <a:ext cx="8991126" cy="899112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617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54159" y="1569859"/>
            <a:ext cx="1325831" cy="132583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EB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1028700"/>
            <a:ext cx="16230600" cy="8229600"/>
            <a:chOff x="0" y="0"/>
            <a:chExt cx="724177" cy="3671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24177" cy="367188"/>
            </a:xfrm>
            <a:custGeom>
              <a:avLst/>
              <a:gdLst/>
              <a:ahLst/>
              <a:cxnLst/>
              <a:rect r="r" b="b" t="t" l="l"/>
              <a:pathLst>
                <a:path h="367188" w="724177">
                  <a:moveTo>
                    <a:pt x="47700" y="0"/>
                  </a:moveTo>
                  <a:lnTo>
                    <a:pt x="676478" y="0"/>
                  </a:lnTo>
                  <a:cubicBezTo>
                    <a:pt x="689128" y="0"/>
                    <a:pt x="701261" y="5025"/>
                    <a:pt x="710206" y="13971"/>
                  </a:cubicBezTo>
                  <a:cubicBezTo>
                    <a:pt x="719152" y="22916"/>
                    <a:pt x="724177" y="35049"/>
                    <a:pt x="724177" y="47700"/>
                  </a:cubicBezTo>
                  <a:lnTo>
                    <a:pt x="724177" y="319489"/>
                  </a:lnTo>
                  <a:cubicBezTo>
                    <a:pt x="724177" y="332140"/>
                    <a:pt x="719152" y="344272"/>
                    <a:pt x="710206" y="353218"/>
                  </a:cubicBezTo>
                  <a:cubicBezTo>
                    <a:pt x="701261" y="362163"/>
                    <a:pt x="689128" y="367188"/>
                    <a:pt x="676478" y="367188"/>
                  </a:cubicBezTo>
                  <a:lnTo>
                    <a:pt x="47700" y="367188"/>
                  </a:lnTo>
                  <a:cubicBezTo>
                    <a:pt x="35049" y="367188"/>
                    <a:pt x="22916" y="362163"/>
                    <a:pt x="13971" y="353218"/>
                  </a:cubicBezTo>
                  <a:cubicBezTo>
                    <a:pt x="5025" y="344272"/>
                    <a:pt x="0" y="332140"/>
                    <a:pt x="0" y="319489"/>
                  </a:cubicBezTo>
                  <a:lnTo>
                    <a:pt x="0" y="47700"/>
                  </a:lnTo>
                  <a:cubicBezTo>
                    <a:pt x="0" y="35049"/>
                    <a:pt x="5025" y="22916"/>
                    <a:pt x="13971" y="13971"/>
                  </a:cubicBezTo>
                  <a:cubicBezTo>
                    <a:pt x="22916" y="5025"/>
                    <a:pt x="35049" y="0"/>
                    <a:pt x="47700" y="0"/>
                  </a:cubicBezTo>
                  <a:close/>
                </a:path>
              </a:pathLst>
            </a:custGeom>
            <a:solidFill>
              <a:srgbClr val="E1EBED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24177" cy="4052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192286" y="8271155"/>
            <a:ext cx="18672571" cy="2851811"/>
          </a:xfrm>
          <a:custGeom>
            <a:avLst/>
            <a:gdLst/>
            <a:ahLst/>
            <a:cxnLst/>
            <a:rect r="r" b="b" t="t" l="l"/>
            <a:pathLst>
              <a:path h="2851811" w="18672571">
                <a:moveTo>
                  <a:pt x="0" y="0"/>
                </a:moveTo>
                <a:lnTo>
                  <a:pt x="18672572" y="0"/>
                </a:lnTo>
                <a:lnTo>
                  <a:pt x="18672572" y="2851811"/>
                </a:lnTo>
                <a:lnTo>
                  <a:pt x="0" y="2851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695600" y="1446685"/>
            <a:ext cx="14782190" cy="2005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7700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MONTHLY REVENUE TREND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695600" y="679896"/>
            <a:ext cx="1285474" cy="1266878"/>
          </a:xfrm>
          <a:custGeom>
            <a:avLst/>
            <a:gdLst/>
            <a:ahLst/>
            <a:cxnLst/>
            <a:rect r="r" b="b" t="t" l="l"/>
            <a:pathLst>
              <a:path h="1266878" w="1285474">
                <a:moveTo>
                  <a:pt x="0" y="0"/>
                </a:moveTo>
                <a:lnTo>
                  <a:pt x="1285475" y="0"/>
                </a:lnTo>
                <a:lnTo>
                  <a:pt x="1285475" y="1266878"/>
                </a:lnTo>
                <a:lnTo>
                  <a:pt x="0" y="12668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-9344322">
            <a:off x="16202962" y="48662"/>
            <a:ext cx="2935145" cy="960593"/>
          </a:xfrm>
          <a:custGeom>
            <a:avLst/>
            <a:gdLst/>
            <a:ahLst/>
            <a:cxnLst/>
            <a:rect r="r" b="b" t="t" l="l"/>
            <a:pathLst>
              <a:path h="960593" w="2935145">
                <a:moveTo>
                  <a:pt x="0" y="0"/>
                </a:moveTo>
                <a:lnTo>
                  <a:pt x="2935146" y="0"/>
                </a:lnTo>
                <a:lnTo>
                  <a:pt x="2935146" y="960593"/>
                </a:lnTo>
                <a:lnTo>
                  <a:pt x="0" y="9605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8" id="18"/>
          <p:cNvGrpSpPr/>
          <p:nvPr/>
        </p:nvGrpSpPr>
        <p:grpSpPr>
          <a:xfrm rot="0">
            <a:off x="14775757" y="805789"/>
            <a:ext cx="764070" cy="76407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EB2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2335339" y="2895708"/>
            <a:ext cx="3799885" cy="5375447"/>
          </a:xfrm>
          <a:custGeom>
            <a:avLst/>
            <a:gdLst/>
            <a:ahLst/>
            <a:cxnLst/>
            <a:rect r="r" b="b" t="t" l="l"/>
            <a:pathLst>
              <a:path h="5375447" w="3799885">
                <a:moveTo>
                  <a:pt x="0" y="0"/>
                </a:moveTo>
                <a:lnTo>
                  <a:pt x="3799885" y="0"/>
                </a:lnTo>
                <a:lnTo>
                  <a:pt x="3799885" y="5375447"/>
                </a:lnTo>
                <a:lnTo>
                  <a:pt x="0" y="53754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879990" y="4356649"/>
            <a:ext cx="9188508" cy="3512826"/>
          </a:xfrm>
          <a:custGeom>
            <a:avLst/>
            <a:gdLst/>
            <a:ahLst/>
            <a:cxnLst/>
            <a:rect r="r" b="b" t="t" l="l"/>
            <a:pathLst>
              <a:path h="3512826" w="9188508">
                <a:moveTo>
                  <a:pt x="0" y="0"/>
                </a:moveTo>
                <a:lnTo>
                  <a:pt x="9188508" y="0"/>
                </a:lnTo>
                <a:lnTo>
                  <a:pt x="9188508" y="3512826"/>
                </a:lnTo>
                <a:lnTo>
                  <a:pt x="0" y="351282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6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31585" y="415364"/>
            <a:ext cx="9785460" cy="8011992"/>
            <a:chOff x="0" y="0"/>
            <a:chExt cx="436608" cy="3574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6608" cy="357479"/>
            </a:xfrm>
            <a:custGeom>
              <a:avLst/>
              <a:gdLst/>
              <a:ahLst/>
              <a:cxnLst/>
              <a:rect r="r" b="b" t="t" l="l"/>
              <a:pathLst>
                <a:path h="357479" w="436608">
                  <a:moveTo>
                    <a:pt x="79117" y="0"/>
                  </a:moveTo>
                  <a:lnTo>
                    <a:pt x="357491" y="0"/>
                  </a:lnTo>
                  <a:cubicBezTo>
                    <a:pt x="378474" y="0"/>
                    <a:pt x="398598" y="8335"/>
                    <a:pt x="413435" y="23173"/>
                  </a:cubicBezTo>
                  <a:cubicBezTo>
                    <a:pt x="428272" y="38010"/>
                    <a:pt x="436608" y="58134"/>
                    <a:pt x="436608" y="79117"/>
                  </a:cubicBezTo>
                  <a:lnTo>
                    <a:pt x="436608" y="278363"/>
                  </a:lnTo>
                  <a:cubicBezTo>
                    <a:pt x="436608" y="299346"/>
                    <a:pt x="428272" y="319469"/>
                    <a:pt x="413435" y="334307"/>
                  </a:cubicBezTo>
                  <a:cubicBezTo>
                    <a:pt x="398598" y="349144"/>
                    <a:pt x="378474" y="357479"/>
                    <a:pt x="357491" y="357479"/>
                  </a:cubicBezTo>
                  <a:lnTo>
                    <a:pt x="79117" y="357479"/>
                  </a:lnTo>
                  <a:cubicBezTo>
                    <a:pt x="58134" y="357479"/>
                    <a:pt x="38010" y="349144"/>
                    <a:pt x="23173" y="334307"/>
                  </a:cubicBezTo>
                  <a:cubicBezTo>
                    <a:pt x="8335" y="319469"/>
                    <a:pt x="0" y="299346"/>
                    <a:pt x="0" y="278363"/>
                  </a:cubicBezTo>
                  <a:lnTo>
                    <a:pt x="0" y="79117"/>
                  </a:lnTo>
                  <a:cubicBezTo>
                    <a:pt x="0" y="58134"/>
                    <a:pt x="8335" y="38010"/>
                    <a:pt x="23173" y="23173"/>
                  </a:cubicBezTo>
                  <a:cubicBezTo>
                    <a:pt x="38010" y="8335"/>
                    <a:pt x="58134" y="0"/>
                    <a:pt x="79117" y="0"/>
                  </a:cubicBezTo>
                  <a:close/>
                </a:path>
              </a:pathLst>
            </a:custGeom>
            <a:solidFill>
              <a:srgbClr val="E1EBED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6608" cy="395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021269" y="-2474505"/>
            <a:ext cx="8991126" cy="899112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617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3781600"/>
            <a:ext cx="6622293" cy="4948659"/>
          </a:xfrm>
          <a:custGeom>
            <a:avLst/>
            <a:gdLst/>
            <a:ahLst/>
            <a:cxnLst/>
            <a:rect r="r" b="b" t="t" l="l"/>
            <a:pathLst>
              <a:path h="4948659" w="6622293">
                <a:moveTo>
                  <a:pt x="0" y="0"/>
                </a:moveTo>
                <a:lnTo>
                  <a:pt x="6622293" y="0"/>
                </a:lnTo>
                <a:lnTo>
                  <a:pt x="6622293" y="4948659"/>
                </a:lnTo>
                <a:lnTo>
                  <a:pt x="0" y="49486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-192286" y="8271155"/>
            <a:ext cx="18672571" cy="2851811"/>
          </a:xfrm>
          <a:custGeom>
            <a:avLst/>
            <a:gdLst/>
            <a:ahLst/>
            <a:cxnLst/>
            <a:rect r="r" b="b" t="t" l="l"/>
            <a:pathLst>
              <a:path h="2851811" w="18672571">
                <a:moveTo>
                  <a:pt x="0" y="0"/>
                </a:moveTo>
                <a:lnTo>
                  <a:pt x="18672572" y="0"/>
                </a:lnTo>
                <a:lnTo>
                  <a:pt x="18672572" y="2851811"/>
                </a:lnTo>
                <a:lnTo>
                  <a:pt x="0" y="28518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3100853" y="-5975575"/>
            <a:ext cx="8991126" cy="899112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EB2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21154" y="2508005"/>
            <a:ext cx="1015093" cy="1015093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F5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3017108">
            <a:off x="4169456" y="591457"/>
            <a:ext cx="882149" cy="2594556"/>
          </a:xfrm>
          <a:custGeom>
            <a:avLst/>
            <a:gdLst/>
            <a:ahLst/>
            <a:cxnLst/>
            <a:rect r="r" b="b" t="t" l="l"/>
            <a:pathLst>
              <a:path h="2594556" w="882149">
                <a:moveTo>
                  <a:pt x="0" y="0"/>
                </a:moveTo>
                <a:lnTo>
                  <a:pt x="882149" y="0"/>
                </a:lnTo>
                <a:lnTo>
                  <a:pt x="882149" y="2594557"/>
                </a:lnTo>
                <a:lnTo>
                  <a:pt x="0" y="25945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5890273" y="3015552"/>
            <a:ext cx="1489898" cy="1468344"/>
          </a:xfrm>
          <a:custGeom>
            <a:avLst/>
            <a:gdLst/>
            <a:ahLst/>
            <a:cxnLst/>
            <a:rect r="r" b="b" t="t" l="l"/>
            <a:pathLst>
              <a:path h="1468344" w="1489898">
                <a:moveTo>
                  <a:pt x="0" y="0"/>
                </a:moveTo>
                <a:lnTo>
                  <a:pt x="1489898" y="0"/>
                </a:lnTo>
                <a:lnTo>
                  <a:pt x="1489898" y="1468344"/>
                </a:lnTo>
                <a:lnTo>
                  <a:pt x="0" y="14683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8234814" y="3523098"/>
            <a:ext cx="4151773" cy="2494221"/>
          </a:xfrm>
          <a:custGeom>
            <a:avLst/>
            <a:gdLst/>
            <a:ahLst/>
            <a:cxnLst/>
            <a:rect r="r" b="b" t="t" l="l"/>
            <a:pathLst>
              <a:path h="2494221" w="4151773">
                <a:moveTo>
                  <a:pt x="0" y="0"/>
                </a:moveTo>
                <a:lnTo>
                  <a:pt x="4151773" y="0"/>
                </a:lnTo>
                <a:lnTo>
                  <a:pt x="4151773" y="2494221"/>
                </a:lnTo>
                <a:lnTo>
                  <a:pt x="0" y="249422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824315" y="2656021"/>
            <a:ext cx="4648346" cy="4763404"/>
          </a:xfrm>
          <a:custGeom>
            <a:avLst/>
            <a:gdLst/>
            <a:ahLst/>
            <a:cxnLst/>
            <a:rect r="r" b="b" t="t" l="l"/>
            <a:pathLst>
              <a:path h="4763404" w="4648346">
                <a:moveTo>
                  <a:pt x="0" y="0"/>
                </a:moveTo>
                <a:lnTo>
                  <a:pt x="4648345" y="0"/>
                </a:lnTo>
                <a:lnTo>
                  <a:pt x="4648345" y="4763404"/>
                </a:lnTo>
                <a:lnTo>
                  <a:pt x="0" y="476340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8234814" y="651263"/>
            <a:ext cx="8766114" cy="1856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00"/>
              </a:lnSpc>
            </a:pPr>
            <a:r>
              <a:rPr lang="en-US" sz="7100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TOTAL ORDERS BY STATUS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6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46267" y="-3282961"/>
            <a:ext cx="8991126" cy="899112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617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671379" y="-3282961"/>
            <a:ext cx="8991126" cy="899112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617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1028700"/>
            <a:ext cx="12971584" cy="8229600"/>
            <a:chOff x="0" y="0"/>
            <a:chExt cx="578766" cy="3671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8766" cy="367188"/>
            </a:xfrm>
            <a:custGeom>
              <a:avLst/>
              <a:gdLst/>
              <a:ahLst/>
              <a:cxnLst/>
              <a:rect r="r" b="b" t="t" l="l"/>
              <a:pathLst>
                <a:path h="367188" w="578766">
                  <a:moveTo>
                    <a:pt x="59684" y="0"/>
                  </a:moveTo>
                  <a:lnTo>
                    <a:pt x="519083" y="0"/>
                  </a:lnTo>
                  <a:cubicBezTo>
                    <a:pt x="534912" y="0"/>
                    <a:pt x="550093" y="6288"/>
                    <a:pt x="561285" y="17481"/>
                  </a:cubicBezTo>
                  <a:cubicBezTo>
                    <a:pt x="572478" y="28674"/>
                    <a:pt x="578766" y="43855"/>
                    <a:pt x="578766" y="59684"/>
                  </a:cubicBezTo>
                  <a:lnTo>
                    <a:pt x="578766" y="307505"/>
                  </a:lnTo>
                  <a:cubicBezTo>
                    <a:pt x="578766" y="323334"/>
                    <a:pt x="572478" y="338515"/>
                    <a:pt x="561285" y="349708"/>
                  </a:cubicBezTo>
                  <a:cubicBezTo>
                    <a:pt x="550093" y="360900"/>
                    <a:pt x="534912" y="367188"/>
                    <a:pt x="519083" y="367188"/>
                  </a:cubicBezTo>
                  <a:lnTo>
                    <a:pt x="59684" y="367188"/>
                  </a:lnTo>
                  <a:cubicBezTo>
                    <a:pt x="43855" y="367188"/>
                    <a:pt x="28674" y="360900"/>
                    <a:pt x="17481" y="349708"/>
                  </a:cubicBezTo>
                  <a:cubicBezTo>
                    <a:pt x="6288" y="338515"/>
                    <a:pt x="0" y="323334"/>
                    <a:pt x="0" y="307505"/>
                  </a:cubicBezTo>
                  <a:lnTo>
                    <a:pt x="0" y="59684"/>
                  </a:lnTo>
                  <a:cubicBezTo>
                    <a:pt x="0" y="43855"/>
                    <a:pt x="6288" y="28674"/>
                    <a:pt x="17481" y="17481"/>
                  </a:cubicBezTo>
                  <a:cubicBezTo>
                    <a:pt x="28674" y="6288"/>
                    <a:pt x="43855" y="0"/>
                    <a:pt x="59684" y="0"/>
                  </a:cubicBezTo>
                  <a:close/>
                </a:path>
              </a:pathLst>
            </a:custGeom>
            <a:solidFill>
              <a:srgbClr val="E1EBED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78766" cy="4052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1494886" y="1885794"/>
            <a:ext cx="5962900" cy="7644744"/>
          </a:xfrm>
          <a:custGeom>
            <a:avLst/>
            <a:gdLst/>
            <a:ahLst/>
            <a:cxnLst/>
            <a:rect r="r" b="b" t="t" l="l"/>
            <a:pathLst>
              <a:path h="7644744" w="5962900">
                <a:moveTo>
                  <a:pt x="0" y="0"/>
                </a:moveTo>
                <a:lnTo>
                  <a:pt x="5962900" y="0"/>
                </a:lnTo>
                <a:lnTo>
                  <a:pt x="5962900" y="7644744"/>
                </a:lnTo>
                <a:lnTo>
                  <a:pt x="0" y="76447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192286" y="8271155"/>
            <a:ext cx="18672571" cy="2851811"/>
          </a:xfrm>
          <a:custGeom>
            <a:avLst/>
            <a:gdLst/>
            <a:ahLst/>
            <a:cxnLst/>
            <a:rect r="r" b="b" t="t" l="l"/>
            <a:pathLst>
              <a:path h="2851811" w="18672571">
                <a:moveTo>
                  <a:pt x="0" y="0"/>
                </a:moveTo>
                <a:lnTo>
                  <a:pt x="18672572" y="0"/>
                </a:lnTo>
                <a:lnTo>
                  <a:pt x="18672572" y="2851811"/>
                </a:lnTo>
                <a:lnTo>
                  <a:pt x="0" y="28518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5014321">
            <a:off x="16373499" y="724498"/>
            <a:ext cx="630273" cy="1853743"/>
          </a:xfrm>
          <a:custGeom>
            <a:avLst/>
            <a:gdLst/>
            <a:ahLst/>
            <a:cxnLst/>
            <a:rect r="r" b="b" t="t" l="l"/>
            <a:pathLst>
              <a:path h="1853743" w="630273">
                <a:moveTo>
                  <a:pt x="0" y="0"/>
                </a:moveTo>
                <a:lnTo>
                  <a:pt x="630272" y="0"/>
                </a:lnTo>
                <a:lnTo>
                  <a:pt x="630272" y="1853743"/>
                </a:lnTo>
                <a:lnTo>
                  <a:pt x="0" y="18537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6677044" y="4409328"/>
            <a:ext cx="1124690" cy="1108419"/>
          </a:xfrm>
          <a:custGeom>
            <a:avLst/>
            <a:gdLst/>
            <a:ahLst/>
            <a:cxnLst/>
            <a:rect r="r" b="b" t="t" l="l"/>
            <a:pathLst>
              <a:path h="1108419" w="1124690">
                <a:moveTo>
                  <a:pt x="0" y="0"/>
                </a:moveTo>
                <a:lnTo>
                  <a:pt x="1124690" y="0"/>
                </a:lnTo>
                <a:lnTo>
                  <a:pt x="1124690" y="1108419"/>
                </a:lnTo>
                <a:lnTo>
                  <a:pt x="0" y="11084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5" id="15"/>
          <p:cNvSpPr txBox="true"/>
          <p:nvPr/>
        </p:nvSpPr>
        <p:spPr>
          <a:xfrm rot="0">
            <a:off x="1595793" y="1622373"/>
            <a:ext cx="7542659" cy="3005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67"/>
              </a:lnSpc>
            </a:pPr>
            <a:r>
              <a:rPr lang="en-US" sz="5867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AVERAGE DELIVERY TIME (IN DAYS)</a:t>
            </a:r>
          </a:p>
          <a:p>
            <a:pPr algn="l">
              <a:lnSpc>
                <a:spcPts val="5867"/>
              </a:lnSpc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0088575" y="1720934"/>
            <a:ext cx="1105104" cy="1089117"/>
          </a:xfrm>
          <a:custGeom>
            <a:avLst/>
            <a:gdLst/>
            <a:ahLst/>
            <a:cxnLst/>
            <a:rect r="r" b="b" t="t" l="l"/>
            <a:pathLst>
              <a:path h="1089117" w="1105104">
                <a:moveTo>
                  <a:pt x="0" y="0"/>
                </a:moveTo>
                <a:lnTo>
                  <a:pt x="1105104" y="0"/>
                </a:lnTo>
                <a:lnTo>
                  <a:pt x="1105104" y="1089117"/>
                </a:lnTo>
                <a:lnTo>
                  <a:pt x="0" y="10891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10810671" y="3072664"/>
            <a:ext cx="766015" cy="766015"/>
          </a:xfrm>
          <a:custGeom>
            <a:avLst/>
            <a:gdLst/>
            <a:ahLst/>
            <a:cxnLst/>
            <a:rect r="r" b="b" t="t" l="l"/>
            <a:pathLst>
              <a:path h="766015" w="766015">
                <a:moveTo>
                  <a:pt x="0" y="0"/>
                </a:moveTo>
                <a:lnTo>
                  <a:pt x="766016" y="0"/>
                </a:lnTo>
                <a:lnTo>
                  <a:pt x="766016" y="766015"/>
                </a:lnTo>
                <a:lnTo>
                  <a:pt x="0" y="7660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43212" y="4148187"/>
            <a:ext cx="10344712" cy="2535062"/>
          </a:xfrm>
          <a:custGeom>
            <a:avLst/>
            <a:gdLst/>
            <a:ahLst/>
            <a:cxnLst/>
            <a:rect r="r" b="b" t="t" l="l"/>
            <a:pathLst>
              <a:path h="2535062" w="10344712">
                <a:moveTo>
                  <a:pt x="0" y="0"/>
                </a:moveTo>
                <a:lnTo>
                  <a:pt x="10344711" y="0"/>
                </a:lnTo>
                <a:lnTo>
                  <a:pt x="10344711" y="2535063"/>
                </a:lnTo>
                <a:lnTo>
                  <a:pt x="0" y="253506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-618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607881" y="7309568"/>
            <a:ext cx="2473342" cy="961587"/>
          </a:xfrm>
          <a:custGeom>
            <a:avLst/>
            <a:gdLst/>
            <a:ahLst/>
            <a:cxnLst/>
            <a:rect r="r" b="b" t="t" l="l"/>
            <a:pathLst>
              <a:path h="961587" w="2473342">
                <a:moveTo>
                  <a:pt x="0" y="0"/>
                </a:moveTo>
                <a:lnTo>
                  <a:pt x="2473343" y="0"/>
                </a:lnTo>
                <a:lnTo>
                  <a:pt x="2473343" y="961587"/>
                </a:lnTo>
                <a:lnTo>
                  <a:pt x="0" y="96158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6206" t="-6634" r="-6206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6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84080" y="1953563"/>
            <a:ext cx="6379874" cy="637987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EB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23378" y="3846222"/>
            <a:ext cx="882149" cy="2594556"/>
          </a:xfrm>
          <a:custGeom>
            <a:avLst/>
            <a:gdLst/>
            <a:ahLst/>
            <a:cxnLst/>
            <a:rect r="r" b="b" t="t" l="l"/>
            <a:pathLst>
              <a:path h="2594556" w="882149">
                <a:moveTo>
                  <a:pt x="0" y="0"/>
                </a:moveTo>
                <a:lnTo>
                  <a:pt x="882149" y="0"/>
                </a:lnTo>
                <a:lnTo>
                  <a:pt x="882149" y="2594556"/>
                </a:lnTo>
                <a:lnTo>
                  <a:pt x="0" y="25945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351225" y="7006973"/>
            <a:ext cx="1015093" cy="101509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F5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95793" y="1028700"/>
            <a:ext cx="16316338" cy="9088178"/>
            <a:chOff x="0" y="0"/>
            <a:chExt cx="728003" cy="40549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8003" cy="405496"/>
            </a:xfrm>
            <a:custGeom>
              <a:avLst/>
              <a:gdLst/>
              <a:ahLst/>
              <a:cxnLst/>
              <a:rect r="r" b="b" t="t" l="l"/>
              <a:pathLst>
                <a:path h="405496" w="728003">
                  <a:moveTo>
                    <a:pt x="47449" y="0"/>
                  </a:moveTo>
                  <a:lnTo>
                    <a:pt x="680554" y="0"/>
                  </a:lnTo>
                  <a:cubicBezTo>
                    <a:pt x="693138" y="0"/>
                    <a:pt x="705207" y="4999"/>
                    <a:pt x="714105" y="13897"/>
                  </a:cubicBezTo>
                  <a:cubicBezTo>
                    <a:pt x="723004" y="22796"/>
                    <a:pt x="728003" y="34865"/>
                    <a:pt x="728003" y="47449"/>
                  </a:cubicBezTo>
                  <a:lnTo>
                    <a:pt x="728003" y="358048"/>
                  </a:lnTo>
                  <a:cubicBezTo>
                    <a:pt x="728003" y="370632"/>
                    <a:pt x="723004" y="382701"/>
                    <a:pt x="714105" y="391599"/>
                  </a:cubicBezTo>
                  <a:cubicBezTo>
                    <a:pt x="705207" y="400497"/>
                    <a:pt x="693138" y="405496"/>
                    <a:pt x="680554" y="405496"/>
                  </a:cubicBezTo>
                  <a:lnTo>
                    <a:pt x="47449" y="405496"/>
                  </a:lnTo>
                  <a:cubicBezTo>
                    <a:pt x="34865" y="405496"/>
                    <a:pt x="22796" y="400497"/>
                    <a:pt x="13897" y="391599"/>
                  </a:cubicBezTo>
                  <a:cubicBezTo>
                    <a:pt x="4999" y="382701"/>
                    <a:pt x="0" y="370632"/>
                    <a:pt x="0" y="358048"/>
                  </a:cubicBezTo>
                  <a:lnTo>
                    <a:pt x="0" y="47449"/>
                  </a:lnTo>
                  <a:cubicBezTo>
                    <a:pt x="0" y="34865"/>
                    <a:pt x="4999" y="22796"/>
                    <a:pt x="13897" y="13897"/>
                  </a:cubicBezTo>
                  <a:cubicBezTo>
                    <a:pt x="22796" y="4999"/>
                    <a:pt x="34865" y="0"/>
                    <a:pt x="47449" y="0"/>
                  </a:cubicBezTo>
                  <a:close/>
                </a:path>
              </a:pathLst>
            </a:custGeom>
            <a:solidFill>
              <a:srgbClr val="E1EBED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28003" cy="443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956647" y="1028700"/>
            <a:ext cx="1682450" cy="1658111"/>
          </a:xfrm>
          <a:custGeom>
            <a:avLst/>
            <a:gdLst/>
            <a:ahLst/>
            <a:cxnLst/>
            <a:rect r="r" b="b" t="t" l="l"/>
            <a:pathLst>
              <a:path h="1658111" w="1682450">
                <a:moveTo>
                  <a:pt x="0" y="0"/>
                </a:moveTo>
                <a:lnTo>
                  <a:pt x="1682450" y="0"/>
                </a:lnTo>
                <a:lnTo>
                  <a:pt x="1682450" y="1658111"/>
                </a:lnTo>
                <a:lnTo>
                  <a:pt x="0" y="16581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-192286" y="8271155"/>
            <a:ext cx="18672571" cy="2851811"/>
          </a:xfrm>
          <a:custGeom>
            <a:avLst/>
            <a:gdLst/>
            <a:ahLst/>
            <a:cxnLst/>
            <a:rect r="r" b="b" t="t" l="l"/>
            <a:pathLst>
              <a:path h="2851811" w="18672571">
                <a:moveTo>
                  <a:pt x="0" y="0"/>
                </a:moveTo>
                <a:lnTo>
                  <a:pt x="18672572" y="0"/>
                </a:lnTo>
                <a:lnTo>
                  <a:pt x="18672572" y="2851811"/>
                </a:lnTo>
                <a:lnTo>
                  <a:pt x="0" y="28518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843057" y="1425033"/>
            <a:ext cx="10255604" cy="5346006"/>
          </a:xfrm>
          <a:custGeom>
            <a:avLst/>
            <a:gdLst/>
            <a:ahLst/>
            <a:cxnLst/>
            <a:rect r="r" b="b" t="t" l="l"/>
            <a:pathLst>
              <a:path h="5346006" w="10255604">
                <a:moveTo>
                  <a:pt x="0" y="0"/>
                </a:moveTo>
                <a:lnTo>
                  <a:pt x="10255604" y="0"/>
                </a:lnTo>
                <a:lnTo>
                  <a:pt x="10255604" y="5346006"/>
                </a:lnTo>
                <a:lnTo>
                  <a:pt x="0" y="53460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920238" y="7082410"/>
            <a:ext cx="5718978" cy="1251026"/>
          </a:xfrm>
          <a:custGeom>
            <a:avLst/>
            <a:gdLst/>
            <a:ahLst/>
            <a:cxnLst/>
            <a:rect r="r" b="b" t="t" l="l"/>
            <a:pathLst>
              <a:path h="1251026" w="5718978">
                <a:moveTo>
                  <a:pt x="0" y="0"/>
                </a:moveTo>
                <a:lnTo>
                  <a:pt x="5718978" y="0"/>
                </a:lnTo>
                <a:lnTo>
                  <a:pt x="5718978" y="1251027"/>
                </a:lnTo>
                <a:lnTo>
                  <a:pt x="0" y="12510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913906" y="2990561"/>
            <a:ext cx="4614826" cy="3753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4900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LATE VS ON-TIME DELIVERIES — IMPACT ON REVIEW SCORE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6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374505" y="-3282961"/>
            <a:ext cx="8991126" cy="899112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617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671379" y="-3282961"/>
            <a:ext cx="8991126" cy="899112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617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54159" y="1569859"/>
            <a:ext cx="1325831" cy="132583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EB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1028700"/>
            <a:ext cx="16230600" cy="8229600"/>
            <a:chOff x="0" y="0"/>
            <a:chExt cx="724177" cy="3671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24177" cy="367188"/>
            </a:xfrm>
            <a:custGeom>
              <a:avLst/>
              <a:gdLst/>
              <a:ahLst/>
              <a:cxnLst/>
              <a:rect r="r" b="b" t="t" l="l"/>
              <a:pathLst>
                <a:path h="367188" w="724177">
                  <a:moveTo>
                    <a:pt x="47700" y="0"/>
                  </a:moveTo>
                  <a:lnTo>
                    <a:pt x="676478" y="0"/>
                  </a:lnTo>
                  <a:cubicBezTo>
                    <a:pt x="689128" y="0"/>
                    <a:pt x="701261" y="5025"/>
                    <a:pt x="710206" y="13971"/>
                  </a:cubicBezTo>
                  <a:cubicBezTo>
                    <a:pt x="719152" y="22916"/>
                    <a:pt x="724177" y="35049"/>
                    <a:pt x="724177" y="47700"/>
                  </a:cubicBezTo>
                  <a:lnTo>
                    <a:pt x="724177" y="319489"/>
                  </a:lnTo>
                  <a:cubicBezTo>
                    <a:pt x="724177" y="332140"/>
                    <a:pt x="719152" y="344272"/>
                    <a:pt x="710206" y="353218"/>
                  </a:cubicBezTo>
                  <a:cubicBezTo>
                    <a:pt x="701261" y="362163"/>
                    <a:pt x="689128" y="367188"/>
                    <a:pt x="676478" y="367188"/>
                  </a:cubicBezTo>
                  <a:lnTo>
                    <a:pt x="47700" y="367188"/>
                  </a:lnTo>
                  <a:cubicBezTo>
                    <a:pt x="35049" y="367188"/>
                    <a:pt x="22916" y="362163"/>
                    <a:pt x="13971" y="353218"/>
                  </a:cubicBezTo>
                  <a:cubicBezTo>
                    <a:pt x="5025" y="344272"/>
                    <a:pt x="0" y="332140"/>
                    <a:pt x="0" y="319489"/>
                  </a:cubicBezTo>
                  <a:lnTo>
                    <a:pt x="0" y="47700"/>
                  </a:lnTo>
                  <a:cubicBezTo>
                    <a:pt x="0" y="35049"/>
                    <a:pt x="5025" y="22916"/>
                    <a:pt x="13971" y="13971"/>
                  </a:cubicBezTo>
                  <a:cubicBezTo>
                    <a:pt x="22916" y="5025"/>
                    <a:pt x="35049" y="0"/>
                    <a:pt x="47700" y="0"/>
                  </a:cubicBezTo>
                  <a:close/>
                </a:path>
              </a:pathLst>
            </a:custGeom>
            <a:solidFill>
              <a:srgbClr val="E1EBED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24177" cy="4052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192286" y="8271155"/>
            <a:ext cx="18672571" cy="2851811"/>
          </a:xfrm>
          <a:custGeom>
            <a:avLst/>
            <a:gdLst/>
            <a:ahLst/>
            <a:cxnLst/>
            <a:rect r="r" b="b" t="t" l="l"/>
            <a:pathLst>
              <a:path h="2851811" w="18672571">
                <a:moveTo>
                  <a:pt x="0" y="0"/>
                </a:moveTo>
                <a:lnTo>
                  <a:pt x="18672572" y="0"/>
                </a:lnTo>
                <a:lnTo>
                  <a:pt x="18672572" y="2851811"/>
                </a:lnTo>
                <a:lnTo>
                  <a:pt x="0" y="2851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487720" y="2090224"/>
            <a:ext cx="6257803" cy="2477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sz="6400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 TOP 10 SELLERS BY REVENUE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028700" y="395261"/>
            <a:ext cx="1285474" cy="1266878"/>
          </a:xfrm>
          <a:custGeom>
            <a:avLst/>
            <a:gdLst/>
            <a:ahLst/>
            <a:cxnLst/>
            <a:rect r="r" b="b" t="t" l="l"/>
            <a:pathLst>
              <a:path h="1266878" w="1285474">
                <a:moveTo>
                  <a:pt x="0" y="0"/>
                </a:moveTo>
                <a:lnTo>
                  <a:pt x="1285474" y="0"/>
                </a:lnTo>
                <a:lnTo>
                  <a:pt x="1285474" y="1266878"/>
                </a:lnTo>
                <a:lnTo>
                  <a:pt x="0" y="12668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-9344322">
            <a:off x="16202962" y="48662"/>
            <a:ext cx="2935145" cy="960593"/>
          </a:xfrm>
          <a:custGeom>
            <a:avLst/>
            <a:gdLst/>
            <a:ahLst/>
            <a:cxnLst/>
            <a:rect r="r" b="b" t="t" l="l"/>
            <a:pathLst>
              <a:path h="960593" w="2935145">
                <a:moveTo>
                  <a:pt x="0" y="0"/>
                </a:moveTo>
                <a:lnTo>
                  <a:pt x="2935146" y="0"/>
                </a:lnTo>
                <a:lnTo>
                  <a:pt x="2935146" y="960593"/>
                </a:lnTo>
                <a:lnTo>
                  <a:pt x="0" y="9605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8351488" y="1399785"/>
            <a:ext cx="6855919" cy="3743715"/>
          </a:xfrm>
          <a:custGeom>
            <a:avLst/>
            <a:gdLst/>
            <a:ahLst/>
            <a:cxnLst/>
            <a:rect r="r" b="b" t="t" l="l"/>
            <a:pathLst>
              <a:path h="3743715" w="6855919">
                <a:moveTo>
                  <a:pt x="0" y="0"/>
                </a:moveTo>
                <a:lnTo>
                  <a:pt x="6855919" y="0"/>
                </a:lnTo>
                <a:lnTo>
                  <a:pt x="6855919" y="3743715"/>
                </a:lnTo>
                <a:lnTo>
                  <a:pt x="0" y="374371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220" r="0" b="-122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879990" y="5319807"/>
            <a:ext cx="12942997" cy="4609750"/>
          </a:xfrm>
          <a:custGeom>
            <a:avLst/>
            <a:gdLst/>
            <a:ahLst/>
            <a:cxnLst/>
            <a:rect r="r" b="b" t="t" l="l"/>
            <a:pathLst>
              <a:path h="4609750" w="12942997">
                <a:moveTo>
                  <a:pt x="0" y="0"/>
                </a:moveTo>
                <a:lnTo>
                  <a:pt x="12942997" y="0"/>
                </a:lnTo>
                <a:lnTo>
                  <a:pt x="12942997" y="4609751"/>
                </a:lnTo>
                <a:lnTo>
                  <a:pt x="0" y="460975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97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6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189937" y="1953563"/>
            <a:ext cx="6379874" cy="637987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EB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654594" y="3846222"/>
            <a:ext cx="882149" cy="2594556"/>
          </a:xfrm>
          <a:custGeom>
            <a:avLst/>
            <a:gdLst/>
            <a:ahLst/>
            <a:cxnLst/>
            <a:rect r="r" b="b" t="t" l="l"/>
            <a:pathLst>
              <a:path h="2594556" w="882149">
                <a:moveTo>
                  <a:pt x="0" y="0"/>
                </a:moveTo>
                <a:lnTo>
                  <a:pt x="882149" y="0"/>
                </a:lnTo>
                <a:lnTo>
                  <a:pt x="882149" y="2594556"/>
                </a:lnTo>
                <a:lnTo>
                  <a:pt x="0" y="25945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687202" y="1321078"/>
            <a:ext cx="1682450" cy="1658111"/>
          </a:xfrm>
          <a:custGeom>
            <a:avLst/>
            <a:gdLst/>
            <a:ahLst/>
            <a:cxnLst/>
            <a:rect r="r" b="b" t="t" l="l"/>
            <a:pathLst>
              <a:path h="1658111" w="1682450">
                <a:moveTo>
                  <a:pt x="0" y="0"/>
                </a:moveTo>
                <a:lnTo>
                  <a:pt x="1682450" y="0"/>
                </a:lnTo>
                <a:lnTo>
                  <a:pt x="1682450" y="1658111"/>
                </a:lnTo>
                <a:lnTo>
                  <a:pt x="0" y="16581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858771" y="7318344"/>
            <a:ext cx="1015093" cy="101509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F5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998748" y="-3953212"/>
            <a:ext cx="7906424" cy="790642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6178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822493" y="1028700"/>
            <a:ext cx="13436807" cy="8229600"/>
            <a:chOff x="0" y="0"/>
            <a:chExt cx="599524" cy="3671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99524" cy="367188"/>
            </a:xfrm>
            <a:custGeom>
              <a:avLst/>
              <a:gdLst/>
              <a:ahLst/>
              <a:cxnLst/>
              <a:rect r="r" b="b" t="t" l="l"/>
              <a:pathLst>
                <a:path h="367188" w="599524">
                  <a:moveTo>
                    <a:pt x="57617" y="0"/>
                  </a:moveTo>
                  <a:lnTo>
                    <a:pt x="541906" y="0"/>
                  </a:lnTo>
                  <a:cubicBezTo>
                    <a:pt x="573728" y="0"/>
                    <a:pt x="599524" y="25796"/>
                    <a:pt x="599524" y="57617"/>
                  </a:cubicBezTo>
                  <a:lnTo>
                    <a:pt x="599524" y="309571"/>
                  </a:lnTo>
                  <a:cubicBezTo>
                    <a:pt x="599524" y="341392"/>
                    <a:pt x="573728" y="367188"/>
                    <a:pt x="541906" y="367188"/>
                  </a:cubicBezTo>
                  <a:lnTo>
                    <a:pt x="57617" y="367188"/>
                  </a:lnTo>
                  <a:cubicBezTo>
                    <a:pt x="25796" y="367188"/>
                    <a:pt x="0" y="341392"/>
                    <a:pt x="0" y="309571"/>
                  </a:cubicBezTo>
                  <a:lnTo>
                    <a:pt x="0" y="57617"/>
                  </a:lnTo>
                  <a:cubicBezTo>
                    <a:pt x="0" y="25796"/>
                    <a:pt x="25796" y="0"/>
                    <a:pt x="57617" y="0"/>
                  </a:cubicBezTo>
                  <a:close/>
                </a:path>
              </a:pathLst>
            </a:custGeom>
            <a:solidFill>
              <a:srgbClr val="E1EBED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99524" cy="4052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-192286" y="8271155"/>
            <a:ext cx="18672571" cy="2851811"/>
          </a:xfrm>
          <a:custGeom>
            <a:avLst/>
            <a:gdLst/>
            <a:ahLst/>
            <a:cxnLst/>
            <a:rect r="r" b="b" t="t" l="l"/>
            <a:pathLst>
              <a:path h="2851811" w="18672571">
                <a:moveTo>
                  <a:pt x="0" y="0"/>
                </a:moveTo>
                <a:lnTo>
                  <a:pt x="18672572" y="0"/>
                </a:lnTo>
                <a:lnTo>
                  <a:pt x="18672572" y="2851811"/>
                </a:lnTo>
                <a:lnTo>
                  <a:pt x="0" y="28518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659933" y="1644844"/>
            <a:ext cx="3814723" cy="2565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MOST POPULAR PAYMENT METHOD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815057" y="4529938"/>
            <a:ext cx="7451679" cy="5386018"/>
          </a:xfrm>
          <a:custGeom>
            <a:avLst/>
            <a:gdLst/>
            <a:ahLst/>
            <a:cxnLst/>
            <a:rect r="r" b="b" t="t" l="l"/>
            <a:pathLst>
              <a:path h="5386018" w="7451679">
                <a:moveTo>
                  <a:pt x="0" y="0"/>
                </a:moveTo>
                <a:lnTo>
                  <a:pt x="7451679" y="0"/>
                </a:lnTo>
                <a:lnTo>
                  <a:pt x="7451679" y="5386018"/>
                </a:lnTo>
                <a:lnTo>
                  <a:pt x="0" y="53860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597846" y="1522499"/>
            <a:ext cx="7030584" cy="2687749"/>
          </a:xfrm>
          <a:custGeom>
            <a:avLst/>
            <a:gdLst/>
            <a:ahLst/>
            <a:cxnLst/>
            <a:rect r="r" b="b" t="t" l="l"/>
            <a:pathLst>
              <a:path h="2687749" w="7030584">
                <a:moveTo>
                  <a:pt x="0" y="0"/>
                </a:moveTo>
                <a:lnTo>
                  <a:pt x="7030584" y="0"/>
                </a:lnTo>
                <a:lnTo>
                  <a:pt x="7030584" y="2687748"/>
                </a:lnTo>
                <a:lnTo>
                  <a:pt x="0" y="26877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6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46267" y="-3282961"/>
            <a:ext cx="8991126" cy="899112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617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671379" y="-3282961"/>
            <a:ext cx="8991126" cy="899112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617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1028700"/>
            <a:ext cx="15151322" cy="8668360"/>
            <a:chOff x="0" y="0"/>
            <a:chExt cx="676022" cy="3867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6022" cy="386765"/>
            </a:xfrm>
            <a:custGeom>
              <a:avLst/>
              <a:gdLst/>
              <a:ahLst/>
              <a:cxnLst/>
              <a:rect r="r" b="b" t="t" l="l"/>
              <a:pathLst>
                <a:path h="386765" w="676022">
                  <a:moveTo>
                    <a:pt x="51097" y="0"/>
                  </a:moveTo>
                  <a:lnTo>
                    <a:pt x="624925" y="0"/>
                  </a:lnTo>
                  <a:cubicBezTo>
                    <a:pt x="638476" y="0"/>
                    <a:pt x="651473" y="5383"/>
                    <a:pt x="661056" y="14966"/>
                  </a:cubicBezTo>
                  <a:cubicBezTo>
                    <a:pt x="670639" y="24549"/>
                    <a:pt x="676022" y="37545"/>
                    <a:pt x="676022" y="51097"/>
                  </a:cubicBezTo>
                  <a:lnTo>
                    <a:pt x="676022" y="335668"/>
                  </a:lnTo>
                  <a:cubicBezTo>
                    <a:pt x="676022" y="363888"/>
                    <a:pt x="653145" y="386765"/>
                    <a:pt x="624925" y="386765"/>
                  </a:cubicBezTo>
                  <a:lnTo>
                    <a:pt x="51097" y="386765"/>
                  </a:lnTo>
                  <a:cubicBezTo>
                    <a:pt x="22877" y="386765"/>
                    <a:pt x="0" y="363888"/>
                    <a:pt x="0" y="335668"/>
                  </a:cubicBezTo>
                  <a:lnTo>
                    <a:pt x="0" y="51097"/>
                  </a:lnTo>
                  <a:cubicBezTo>
                    <a:pt x="0" y="22877"/>
                    <a:pt x="22877" y="0"/>
                    <a:pt x="51097" y="0"/>
                  </a:cubicBezTo>
                  <a:close/>
                </a:path>
              </a:pathLst>
            </a:custGeom>
            <a:solidFill>
              <a:srgbClr val="E1EBED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76022" cy="424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192286" y="8271155"/>
            <a:ext cx="18672571" cy="2851811"/>
          </a:xfrm>
          <a:custGeom>
            <a:avLst/>
            <a:gdLst/>
            <a:ahLst/>
            <a:cxnLst/>
            <a:rect r="r" b="b" t="t" l="l"/>
            <a:pathLst>
              <a:path h="2851811" w="18672571">
                <a:moveTo>
                  <a:pt x="0" y="0"/>
                </a:moveTo>
                <a:lnTo>
                  <a:pt x="18672572" y="0"/>
                </a:lnTo>
                <a:lnTo>
                  <a:pt x="18672572" y="2851811"/>
                </a:lnTo>
                <a:lnTo>
                  <a:pt x="0" y="2851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832507" y="1212602"/>
            <a:ext cx="766015" cy="766015"/>
          </a:xfrm>
          <a:custGeom>
            <a:avLst/>
            <a:gdLst/>
            <a:ahLst/>
            <a:cxnLst/>
            <a:rect r="r" b="b" t="t" l="l"/>
            <a:pathLst>
              <a:path h="766015" w="766015">
                <a:moveTo>
                  <a:pt x="0" y="0"/>
                </a:moveTo>
                <a:lnTo>
                  <a:pt x="766016" y="0"/>
                </a:lnTo>
                <a:lnTo>
                  <a:pt x="766016" y="766016"/>
                </a:lnTo>
                <a:lnTo>
                  <a:pt x="0" y="7660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80229" y="4594153"/>
            <a:ext cx="9256944" cy="3191012"/>
          </a:xfrm>
          <a:custGeom>
            <a:avLst/>
            <a:gdLst/>
            <a:ahLst/>
            <a:cxnLst/>
            <a:rect r="r" b="b" t="t" l="l"/>
            <a:pathLst>
              <a:path h="3191012" w="9256944">
                <a:moveTo>
                  <a:pt x="0" y="0"/>
                </a:moveTo>
                <a:lnTo>
                  <a:pt x="9256944" y="0"/>
                </a:lnTo>
                <a:lnTo>
                  <a:pt x="9256944" y="3191011"/>
                </a:lnTo>
                <a:lnTo>
                  <a:pt x="0" y="31910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072158" y="1595610"/>
            <a:ext cx="4471314" cy="6726051"/>
          </a:xfrm>
          <a:custGeom>
            <a:avLst/>
            <a:gdLst/>
            <a:ahLst/>
            <a:cxnLst/>
            <a:rect r="r" b="b" t="t" l="l"/>
            <a:pathLst>
              <a:path h="6726051" w="4471314">
                <a:moveTo>
                  <a:pt x="0" y="0"/>
                </a:moveTo>
                <a:lnTo>
                  <a:pt x="4471314" y="0"/>
                </a:lnTo>
                <a:lnTo>
                  <a:pt x="4471314" y="6726051"/>
                </a:lnTo>
                <a:lnTo>
                  <a:pt x="0" y="672605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249" r="0" b="-1249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627592" y="2103047"/>
            <a:ext cx="8271661" cy="2005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700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REVENUE BY STATE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6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953563"/>
            <a:ext cx="6379874" cy="637987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617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25092" y="490756"/>
            <a:ext cx="1682450" cy="1658111"/>
          </a:xfrm>
          <a:custGeom>
            <a:avLst/>
            <a:gdLst/>
            <a:ahLst/>
            <a:cxnLst/>
            <a:rect r="r" b="b" t="t" l="l"/>
            <a:pathLst>
              <a:path h="1658111" w="1682450">
                <a:moveTo>
                  <a:pt x="0" y="0"/>
                </a:moveTo>
                <a:lnTo>
                  <a:pt x="1682451" y="0"/>
                </a:lnTo>
                <a:lnTo>
                  <a:pt x="1682451" y="1658111"/>
                </a:lnTo>
                <a:lnTo>
                  <a:pt x="0" y="16581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13998748" y="-3953212"/>
            <a:ext cx="7906424" cy="790642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617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566170" y="1028700"/>
            <a:ext cx="12385790" cy="8668360"/>
            <a:chOff x="0" y="0"/>
            <a:chExt cx="552629" cy="3867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52629" cy="386765"/>
            </a:xfrm>
            <a:custGeom>
              <a:avLst/>
              <a:gdLst/>
              <a:ahLst/>
              <a:cxnLst/>
              <a:rect r="r" b="b" t="t" l="l"/>
              <a:pathLst>
                <a:path h="386765" w="552629">
                  <a:moveTo>
                    <a:pt x="62506" y="0"/>
                  </a:moveTo>
                  <a:lnTo>
                    <a:pt x="490123" y="0"/>
                  </a:lnTo>
                  <a:cubicBezTo>
                    <a:pt x="524644" y="0"/>
                    <a:pt x="552629" y="27985"/>
                    <a:pt x="552629" y="62506"/>
                  </a:cubicBezTo>
                  <a:lnTo>
                    <a:pt x="552629" y="324259"/>
                  </a:lnTo>
                  <a:cubicBezTo>
                    <a:pt x="552629" y="340836"/>
                    <a:pt x="546044" y="356735"/>
                    <a:pt x="534322" y="368457"/>
                  </a:cubicBezTo>
                  <a:cubicBezTo>
                    <a:pt x="522599" y="380180"/>
                    <a:pt x="506701" y="386765"/>
                    <a:pt x="490123" y="386765"/>
                  </a:cubicBezTo>
                  <a:lnTo>
                    <a:pt x="62506" y="386765"/>
                  </a:lnTo>
                  <a:cubicBezTo>
                    <a:pt x="45929" y="386765"/>
                    <a:pt x="30030" y="380180"/>
                    <a:pt x="18308" y="368457"/>
                  </a:cubicBezTo>
                  <a:cubicBezTo>
                    <a:pt x="6585" y="356735"/>
                    <a:pt x="0" y="340836"/>
                    <a:pt x="0" y="324259"/>
                  </a:cubicBezTo>
                  <a:lnTo>
                    <a:pt x="0" y="62506"/>
                  </a:lnTo>
                  <a:cubicBezTo>
                    <a:pt x="0" y="45929"/>
                    <a:pt x="6585" y="30030"/>
                    <a:pt x="18308" y="18308"/>
                  </a:cubicBezTo>
                  <a:cubicBezTo>
                    <a:pt x="30030" y="6585"/>
                    <a:pt x="45929" y="0"/>
                    <a:pt x="62506" y="0"/>
                  </a:cubicBezTo>
                  <a:close/>
                </a:path>
              </a:pathLst>
            </a:custGeom>
            <a:solidFill>
              <a:srgbClr val="E1EBED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52629" cy="424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192286" y="8271155"/>
            <a:ext cx="18672571" cy="2851811"/>
          </a:xfrm>
          <a:custGeom>
            <a:avLst/>
            <a:gdLst/>
            <a:ahLst/>
            <a:cxnLst/>
            <a:rect r="r" b="b" t="t" l="l"/>
            <a:pathLst>
              <a:path h="2851811" w="18672571">
                <a:moveTo>
                  <a:pt x="0" y="0"/>
                </a:moveTo>
                <a:lnTo>
                  <a:pt x="18672572" y="0"/>
                </a:lnTo>
                <a:lnTo>
                  <a:pt x="18672572" y="2851811"/>
                </a:lnTo>
                <a:lnTo>
                  <a:pt x="0" y="28518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25092" y="3139793"/>
            <a:ext cx="5624019" cy="4969588"/>
          </a:xfrm>
          <a:custGeom>
            <a:avLst/>
            <a:gdLst/>
            <a:ahLst/>
            <a:cxnLst/>
            <a:rect r="r" b="b" t="t" l="l"/>
            <a:pathLst>
              <a:path h="4969588" w="5624019">
                <a:moveTo>
                  <a:pt x="0" y="0"/>
                </a:moveTo>
                <a:lnTo>
                  <a:pt x="5624020" y="0"/>
                </a:lnTo>
                <a:lnTo>
                  <a:pt x="5624020" y="4969588"/>
                </a:lnTo>
                <a:lnTo>
                  <a:pt x="0" y="49695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6394465" y="2966136"/>
            <a:ext cx="6050749" cy="3259663"/>
          </a:xfrm>
          <a:custGeom>
            <a:avLst/>
            <a:gdLst/>
            <a:ahLst/>
            <a:cxnLst/>
            <a:rect r="r" b="b" t="t" l="l"/>
            <a:pathLst>
              <a:path h="3259663" w="6050749">
                <a:moveTo>
                  <a:pt x="0" y="0"/>
                </a:moveTo>
                <a:lnTo>
                  <a:pt x="6050748" y="0"/>
                </a:lnTo>
                <a:lnTo>
                  <a:pt x="6050748" y="3259662"/>
                </a:lnTo>
                <a:lnTo>
                  <a:pt x="0" y="32596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692863" y="3953212"/>
            <a:ext cx="4908833" cy="3376312"/>
          </a:xfrm>
          <a:custGeom>
            <a:avLst/>
            <a:gdLst/>
            <a:ahLst/>
            <a:cxnLst/>
            <a:rect r="r" b="b" t="t" l="l"/>
            <a:pathLst>
              <a:path h="3376312" w="4908833">
                <a:moveTo>
                  <a:pt x="0" y="0"/>
                </a:moveTo>
                <a:lnTo>
                  <a:pt x="4908834" y="0"/>
                </a:lnTo>
                <a:lnTo>
                  <a:pt x="4908834" y="3376312"/>
                </a:lnTo>
                <a:lnTo>
                  <a:pt x="0" y="337631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4153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315191" y="1667494"/>
            <a:ext cx="10887749" cy="657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4900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 REVIEW SCORE DISTRIBUTION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6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56088" y="-5639429"/>
            <a:ext cx="8991126" cy="899112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617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436807" cy="8229600"/>
            <a:chOff x="0" y="0"/>
            <a:chExt cx="599524" cy="3671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9524" cy="367188"/>
            </a:xfrm>
            <a:custGeom>
              <a:avLst/>
              <a:gdLst/>
              <a:ahLst/>
              <a:cxnLst/>
              <a:rect r="r" b="b" t="t" l="l"/>
              <a:pathLst>
                <a:path h="367188" w="599524">
                  <a:moveTo>
                    <a:pt x="57617" y="0"/>
                  </a:moveTo>
                  <a:lnTo>
                    <a:pt x="541906" y="0"/>
                  </a:lnTo>
                  <a:cubicBezTo>
                    <a:pt x="573728" y="0"/>
                    <a:pt x="599524" y="25796"/>
                    <a:pt x="599524" y="57617"/>
                  </a:cubicBezTo>
                  <a:lnTo>
                    <a:pt x="599524" y="309571"/>
                  </a:lnTo>
                  <a:cubicBezTo>
                    <a:pt x="599524" y="341392"/>
                    <a:pt x="573728" y="367188"/>
                    <a:pt x="541906" y="367188"/>
                  </a:cubicBezTo>
                  <a:lnTo>
                    <a:pt x="57617" y="367188"/>
                  </a:lnTo>
                  <a:cubicBezTo>
                    <a:pt x="25796" y="367188"/>
                    <a:pt x="0" y="341392"/>
                    <a:pt x="0" y="309571"/>
                  </a:cubicBezTo>
                  <a:lnTo>
                    <a:pt x="0" y="57617"/>
                  </a:lnTo>
                  <a:cubicBezTo>
                    <a:pt x="0" y="25796"/>
                    <a:pt x="25796" y="0"/>
                    <a:pt x="57617" y="0"/>
                  </a:cubicBezTo>
                  <a:close/>
                </a:path>
              </a:pathLst>
            </a:custGeom>
            <a:solidFill>
              <a:srgbClr val="E1EBED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99524" cy="4052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35803" y="3749138"/>
            <a:ext cx="12230394" cy="1223039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F5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923120" y="1757325"/>
            <a:ext cx="6336180" cy="6513830"/>
          </a:xfrm>
          <a:custGeom>
            <a:avLst/>
            <a:gdLst/>
            <a:ahLst/>
            <a:cxnLst/>
            <a:rect r="r" b="b" t="t" l="l"/>
            <a:pathLst>
              <a:path h="6513830" w="6336180">
                <a:moveTo>
                  <a:pt x="0" y="0"/>
                </a:moveTo>
                <a:lnTo>
                  <a:pt x="6336180" y="0"/>
                </a:lnTo>
                <a:lnTo>
                  <a:pt x="6336180" y="6513830"/>
                </a:lnTo>
                <a:lnTo>
                  <a:pt x="0" y="65138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-192286" y="8271155"/>
            <a:ext cx="18672571" cy="2851811"/>
          </a:xfrm>
          <a:custGeom>
            <a:avLst/>
            <a:gdLst/>
            <a:ahLst/>
            <a:cxnLst/>
            <a:rect r="r" b="b" t="t" l="l"/>
            <a:pathLst>
              <a:path h="2851811" w="18672571">
                <a:moveTo>
                  <a:pt x="0" y="0"/>
                </a:moveTo>
                <a:lnTo>
                  <a:pt x="18672572" y="0"/>
                </a:lnTo>
                <a:lnTo>
                  <a:pt x="18672572" y="2851811"/>
                </a:lnTo>
                <a:lnTo>
                  <a:pt x="0" y="28518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029951" y="1757325"/>
            <a:ext cx="1105104" cy="1089117"/>
          </a:xfrm>
          <a:custGeom>
            <a:avLst/>
            <a:gdLst/>
            <a:ahLst/>
            <a:cxnLst/>
            <a:rect r="r" b="b" t="t" l="l"/>
            <a:pathLst>
              <a:path h="1089117" w="1105104">
                <a:moveTo>
                  <a:pt x="0" y="0"/>
                </a:moveTo>
                <a:lnTo>
                  <a:pt x="1105104" y="0"/>
                </a:lnTo>
                <a:lnTo>
                  <a:pt x="1105104" y="1089118"/>
                </a:lnTo>
                <a:lnTo>
                  <a:pt x="0" y="10891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7796465">
            <a:off x="15510000" y="548403"/>
            <a:ext cx="2935145" cy="960593"/>
          </a:xfrm>
          <a:custGeom>
            <a:avLst/>
            <a:gdLst/>
            <a:ahLst/>
            <a:cxnLst/>
            <a:rect r="r" b="b" t="t" l="l"/>
            <a:pathLst>
              <a:path h="960593" w="2935145">
                <a:moveTo>
                  <a:pt x="0" y="0"/>
                </a:moveTo>
                <a:lnTo>
                  <a:pt x="2935146" y="0"/>
                </a:lnTo>
                <a:lnTo>
                  <a:pt x="2935146" y="960594"/>
                </a:lnTo>
                <a:lnTo>
                  <a:pt x="0" y="9605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1263935" y="3220186"/>
            <a:ext cx="766015" cy="766015"/>
          </a:xfrm>
          <a:custGeom>
            <a:avLst/>
            <a:gdLst/>
            <a:ahLst/>
            <a:cxnLst/>
            <a:rect r="r" b="b" t="t" l="l"/>
            <a:pathLst>
              <a:path h="766015" w="766015">
                <a:moveTo>
                  <a:pt x="0" y="0"/>
                </a:moveTo>
                <a:lnTo>
                  <a:pt x="766016" y="0"/>
                </a:lnTo>
                <a:lnTo>
                  <a:pt x="766016" y="766016"/>
                </a:lnTo>
                <a:lnTo>
                  <a:pt x="0" y="7660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65009" y="2788437"/>
            <a:ext cx="8447409" cy="4312314"/>
          </a:xfrm>
          <a:custGeom>
            <a:avLst/>
            <a:gdLst/>
            <a:ahLst/>
            <a:cxnLst/>
            <a:rect r="r" b="b" t="t" l="l"/>
            <a:pathLst>
              <a:path h="4312314" w="8447409">
                <a:moveTo>
                  <a:pt x="0" y="0"/>
                </a:moveTo>
                <a:lnTo>
                  <a:pt x="8447410" y="0"/>
                </a:lnTo>
                <a:lnTo>
                  <a:pt x="8447410" y="4312314"/>
                </a:lnTo>
                <a:lnTo>
                  <a:pt x="0" y="431231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373126" y="7320029"/>
            <a:ext cx="3181232" cy="1181600"/>
          </a:xfrm>
          <a:custGeom>
            <a:avLst/>
            <a:gdLst/>
            <a:ahLst/>
            <a:cxnLst/>
            <a:rect r="r" b="b" t="t" l="l"/>
            <a:pathLst>
              <a:path h="1181600" w="3181232">
                <a:moveTo>
                  <a:pt x="0" y="0"/>
                </a:moveTo>
                <a:lnTo>
                  <a:pt x="3181232" y="0"/>
                </a:lnTo>
                <a:lnTo>
                  <a:pt x="3181232" y="1181600"/>
                </a:lnTo>
                <a:lnTo>
                  <a:pt x="0" y="11816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595793" y="1631898"/>
            <a:ext cx="10434157" cy="937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6900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REPEAT CUSTOMERS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6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46267" y="-3282961"/>
            <a:ext cx="8991126" cy="899112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617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671379" y="-3282961"/>
            <a:ext cx="8991126" cy="899112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617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1028700"/>
            <a:ext cx="15151322" cy="8668360"/>
            <a:chOff x="0" y="0"/>
            <a:chExt cx="676022" cy="3867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6022" cy="386765"/>
            </a:xfrm>
            <a:custGeom>
              <a:avLst/>
              <a:gdLst/>
              <a:ahLst/>
              <a:cxnLst/>
              <a:rect r="r" b="b" t="t" l="l"/>
              <a:pathLst>
                <a:path h="386765" w="676022">
                  <a:moveTo>
                    <a:pt x="51097" y="0"/>
                  </a:moveTo>
                  <a:lnTo>
                    <a:pt x="624925" y="0"/>
                  </a:lnTo>
                  <a:cubicBezTo>
                    <a:pt x="638476" y="0"/>
                    <a:pt x="651473" y="5383"/>
                    <a:pt x="661056" y="14966"/>
                  </a:cubicBezTo>
                  <a:cubicBezTo>
                    <a:pt x="670639" y="24549"/>
                    <a:pt x="676022" y="37545"/>
                    <a:pt x="676022" y="51097"/>
                  </a:cubicBezTo>
                  <a:lnTo>
                    <a:pt x="676022" y="335668"/>
                  </a:lnTo>
                  <a:cubicBezTo>
                    <a:pt x="676022" y="363888"/>
                    <a:pt x="653145" y="386765"/>
                    <a:pt x="624925" y="386765"/>
                  </a:cubicBezTo>
                  <a:lnTo>
                    <a:pt x="51097" y="386765"/>
                  </a:lnTo>
                  <a:cubicBezTo>
                    <a:pt x="22877" y="386765"/>
                    <a:pt x="0" y="363888"/>
                    <a:pt x="0" y="335668"/>
                  </a:cubicBezTo>
                  <a:lnTo>
                    <a:pt x="0" y="51097"/>
                  </a:lnTo>
                  <a:cubicBezTo>
                    <a:pt x="0" y="22877"/>
                    <a:pt x="22877" y="0"/>
                    <a:pt x="51097" y="0"/>
                  </a:cubicBezTo>
                  <a:close/>
                </a:path>
              </a:pathLst>
            </a:custGeom>
            <a:solidFill>
              <a:srgbClr val="E1EBED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76022" cy="424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192286" y="8271155"/>
            <a:ext cx="18672571" cy="2851811"/>
          </a:xfrm>
          <a:custGeom>
            <a:avLst/>
            <a:gdLst/>
            <a:ahLst/>
            <a:cxnLst/>
            <a:rect r="r" b="b" t="t" l="l"/>
            <a:pathLst>
              <a:path h="2851811" w="18672571">
                <a:moveTo>
                  <a:pt x="0" y="0"/>
                </a:moveTo>
                <a:lnTo>
                  <a:pt x="18672572" y="0"/>
                </a:lnTo>
                <a:lnTo>
                  <a:pt x="18672572" y="2851811"/>
                </a:lnTo>
                <a:lnTo>
                  <a:pt x="0" y="2851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832507" y="1212602"/>
            <a:ext cx="766015" cy="766015"/>
          </a:xfrm>
          <a:custGeom>
            <a:avLst/>
            <a:gdLst/>
            <a:ahLst/>
            <a:cxnLst/>
            <a:rect r="r" b="b" t="t" l="l"/>
            <a:pathLst>
              <a:path h="766015" w="766015">
                <a:moveTo>
                  <a:pt x="0" y="0"/>
                </a:moveTo>
                <a:lnTo>
                  <a:pt x="766016" y="0"/>
                </a:lnTo>
                <a:lnTo>
                  <a:pt x="766016" y="766016"/>
                </a:lnTo>
                <a:lnTo>
                  <a:pt x="0" y="7660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844859" y="1358833"/>
            <a:ext cx="8266434" cy="4349333"/>
          </a:xfrm>
          <a:custGeom>
            <a:avLst/>
            <a:gdLst/>
            <a:ahLst/>
            <a:cxnLst/>
            <a:rect r="r" b="b" t="t" l="l"/>
            <a:pathLst>
              <a:path h="4349333" w="8266434">
                <a:moveTo>
                  <a:pt x="0" y="0"/>
                </a:moveTo>
                <a:lnTo>
                  <a:pt x="8266434" y="0"/>
                </a:lnTo>
                <a:lnTo>
                  <a:pt x="8266434" y="4349333"/>
                </a:lnTo>
                <a:lnTo>
                  <a:pt x="0" y="43493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683853" y="5991135"/>
            <a:ext cx="10830700" cy="3947188"/>
          </a:xfrm>
          <a:custGeom>
            <a:avLst/>
            <a:gdLst/>
            <a:ahLst/>
            <a:cxnLst/>
            <a:rect r="r" b="b" t="t" l="l"/>
            <a:pathLst>
              <a:path h="3947188" w="10830700">
                <a:moveTo>
                  <a:pt x="0" y="0"/>
                </a:moveTo>
                <a:lnTo>
                  <a:pt x="10830700" y="0"/>
                </a:lnTo>
                <a:lnTo>
                  <a:pt x="10830700" y="3947188"/>
                </a:lnTo>
                <a:lnTo>
                  <a:pt x="0" y="39471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660424" y="2339062"/>
            <a:ext cx="4998086" cy="2474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TOP 10 CUSTOMERS BY TOTAL SPENDING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6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309512" y="-1346526"/>
            <a:ext cx="8991126" cy="899112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EB2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832818" y="3149037"/>
            <a:ext cx="8991126" cy="899112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617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606386" y="-1346526"/>
            <a:ext cx="8991126" cy="899112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EB2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1028700"/>
            <a:ext cx="16230600" cy="6304430"/>
            <a:chOff x="0" y="0"/>
            <a:chExt cx="3138035" cy="12189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917" y="0"/>
              <a:ext cx="3132200" cy="1218903"/>
            </a:xfrm>
            <a:custGeom>
              <a:avLst/>
              <a:gdLst/>
              <a:ahLst/>
              <a:cxnLst/>
              <a:rect r="r" b="b" t="t" l="l"/>
              <a:pathLst>
                <a:path h="1218903" w="3132200">
                  <a:moveTo>
                    <a:pt x="219363" y="1218903"/>
                  </a:moveTo>
                  <a:lnTo>
                    <a:pt x="2912838" y="1218903"/>
                  </a:lnTo>
                  <a:cubicBezTo>
                    <a:pt x="2923848" y="1218903"/>
                    <a:pt x="2933245" y="1210943"/>
                    <a:pt x="2935055" y="1200083"/>
                  </a:cubicBezTo>
                  <a:lnTo>
                    <a:pt x="3131980" y="18820"/>
                  </a:lnTo>
                  <a:cubicBezTo>
                    <a:pt x="3132762" y="14134"/>
                    <a:pt x="3131441" y="9341"/>
                    <a:pt x="3128370" y="5716"/>
                  </a:cubicBezTo>
                  <a:cubicBezTo>
                    <a:pt x="3125300" y="2090"/>
                    <a:pt x="3120789" y="0"/>
                    <a:pt x="3116038" y="0"/>
                  </a:cubicBezTo>
                  <a:lnTo>
                    <a:pt x="16163" y="0"/>
                  </a:lnTo>
                  <a:cubicBezTo>
                    <a:pt x="11412" y="0"/>
                    <a:pt x="6901" y="2090"/>
                    <a:pt x="3830" y="5716"/>
                  </a:cubicBezTo>
                  <a:cubicBezTo>
                    <a:pt x="759" y="9341"/>
                    <a:pt x="-561" y="14134"/>
                    <a:pt x="220" y="18820"/>
                  </a:cubicBezTo>
                  <a:lnTo>
                    <a:pt x="197146" y="1200083"/>
                  </a:lnTo>
                  <a:cubicBezTo>
                    <a:pt x="198956" y="1210943"/>
                    <a:pt x="208353" y="1218903"/>
                    <a:pt x="219363" y="1218903"/>
                  </a:cubicBezTo>
                  <a:close/>
                </a:path>
              </a:pathLst>
            </a:custGeom>
            <a:solidFill>
              <a:srgbClr val="E1EBE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7000" y="-38100"/>
              <a:ext cx="2884035" cy="1257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192286" y="8271155"/>
            <a:ext cx="18672571" cy="2851811"/>
          </a:xfrm>
          <a:custGeom>
            <a:avLst/>
            <a:gdLst/>
            <a:ahLst/>
            <a:cxnLst/>
            <a:rect r="r" b="b" t="t" l="l"/>
            <a:pathLst>
              <a:path h="2851811" w="18672571">
                <a:moveTo>
                  <a:pt x="0" y="0"/>
                </a:moveTo>
                <a:lnTo>
                  <a:pt x="18672572" y="0"/>
                </a:lnTo>
                <a:lnTo>
                  <a:pt x="18672572" y="2851811"/>
                </a:lnTo>
                <a:lnTo>
                  <a:pt x="0" y="2851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28700" y="3781600"/>
            <a:ext cx="6622293" cy="4948659"/>
          </a:xfrm>
          <a:custGeom>
            <a:avLst/>
            <a:gdLst/>
            <a:ahLst/>
            <a:cxnLst/>
            <a:rect r="r" b="b" t="t" l="l"/>
            <a:pathLst>
              <a:path h="4948659" w="6622293">
                <a:moveTo>
                  <a:pt x="0" y="0"/>
                </a:moveTo>
                <a:lnTo>
                  <a:pt x="6622293" y="0"/>
                </a:lnTo>
                <a:lnTo>
                  <a:pt x="6622293" y="4948659"/>
                </a:lnTo>
                <a:lnTo>
                  <a:pt x="0" y="49486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911518" y="1490926"/>
            <a:ext cx="1682450" cy="1658111"/>
          </a:xfrm>
          <a:custGeom>
            <a:avLst/>
            <a:gdLst/>
            <a:ahLst/>
            <a:cxnLst/>
            <a:rect r="r" b="b" t="t" l="l"/>
            <a:pathLst>
              <a:path h="1658111" w="1682450">
                <a:moveTo>
                  <a:pt x="0" y="0"/>
                </a:moveTo>
                <a:lnTo>
                  <a:pt x="1682450" y="0"/>
                </a:lnTo>
                <a:lnTo>
                  <a:pt x="1682450" y="1658111"/>
                </a:lnTo>
                <a:lnTo>
                  <a:pt x="0" y="16581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-2607425">
            <a:off x="4771735" y="2267760"/>
            <a:ext cx="882149" cy="2594556"/>
          </a:xfrm>
          <a:custGeom>
            <a:avLst/>
            <a:gdLst/>
            <a:ahLst/>
            <a:cxnLst/>
            <a:rect r="r" b="b" t="t" l="l"/>
            <a:pathLst>
              <a:path h="2594556" w="882149">
                <a:moveTo>
                  <a:pt x="0" y="0"/>
                </a:moveTo>
                <a:lnTo>
                  <a:pt x="882149" y="0"/>
                </a:lnTo>
                <a:lnTo>
                  <a:pt x="882149" y="2594557"/>
                </a:lnTo>
                <a:lnTo>
                  <a:pt x="0" y="25945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8" id="18"/>
          <p:cNvSpPr txBox="true"/>
          <p:nvPr/>
        </p:nvSpPr>
        <p:spPr>
          <a:xfrm rot="0">
            <a:off x="8173489" y="2852453"/>
            <a:ext cx="8583916" cy="313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0"/>
              </a:lnSpc>
            </a:pPr>
            <a:r>
              <a:rPr lang="en-US" sz="12000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7238611">
            <a:off x="15289832" y="1577304"/>
            <a:ext cx="2935145" cy="960593"/>
          </a:xfrm>
          <a:custGeom>
            <a:avLst/>
            <a:gdLst/>
            <a:ahLst/>
            <a:cxnLst/>
            <a:rect r="r" b="b" t="t" l="l"/>
            <a:pathLst>
              <a:path h="960593" w="2935145">
                <a:moveTo>
                  <a:pt x="0" y="0"/>
                </a:moveTo>
                <a:lnTo>
                  <a:pt x="2935146" y="0"/>
                </a:lnTo>
                <a:lnTo>
                  <a:pt x="2935146" y="960593"/>
                </a:lnTo>
                <a:lnTo>
                  <a:pt x="0" y="9605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15596165" y="4043915"/>
            <a:ext cx="766015" cy="766015"/>
          </a:xfrm>
          <a:custGeom>
            <a:avLst/>
            <a:gdLst/>
            <a:ahLst/>
            <a:cxnLst/>
            <a:rect r="r" b="b" t="t" l="l"/>
            <a:pathLst>
              <a:path h="766015" w="766015">
                <a:moveTo>
                  <a:pt x="0" y="0"/>
                </a:moveTo>
                <a:lnTo>
                  <a:pt x="766015" y="0"/>
                </a:lnTo>
                <a:lnTo>
                  <a:pt x="766015" y="766015"/>
                </a:lnTo>
                <a:lnTo>
                  <a:pt x="0" y="7660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DAHIEg6TpNI</dc:identifier>
  <dcterms:modified xsi:type="dcterms:W3CDTF">2011-08-01T06:04:30Z</dcterms:modified>
  <cp:revision>1</cp:revision>
  <dc:title>Teal Orange Yellow And White Illustrative E-Commerce Trends Presentation</dc:title>
</cp:coreProperties>
</file>